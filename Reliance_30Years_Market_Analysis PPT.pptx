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(₹B)</c:v>
                </c:pt>
              </c:strCache>
            </c:strRef>
          </c:tx>
          <c:spPr>
            <a:solidFill>
              <a:srgbClr val="0B6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1994–96</c:v>
                  </c:pt>
                  <c:pt idx="1">
                    <c:v>1997–99</c:v>
                  </c:pt>
                  <c:pt idx="2">
                    <c:v>2000–02</c:v>
                  </c:pt>
                  <c:pt idx="3">
                    <c:v>2003–05</c:v>
                  </c:pt>
                  <c:pt idx="4">
                    <c:v>2006–08</c:v>
                  </c:pt>
                  <c:pt idx="5">
                    <c:v>2009–11</c:v>
                  </c:pt>
                  <c:pt idx="6">
                    <c:v>2012–14</c:v>
                  </c:pt>
                  <c:pt idx="7">
                    <c:v>2015–17</c:v>
                  </c:pt>
                  <c:pt idx="8">
                    <c:v>2018–20</c:v>
                  </c:pt>
                  <c:pt idx="9">
                    <c:v>2021–23</c:v>
                  </c:pt>
                  <c:pt idx="10">
                    <c:v>2024–25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0.5</c:v>
                </c:pt>
                <c:pt idx="1">
                  <c:v>1.2</c:v>
                </c:pt>
                <c:pt idx="2">
                  <c:v>2.8</c:v>
                </c:pt>
                <c:pt idx="3">
                  <c:v>4.5</c:v>
                </c:pt>
                <c:pt idx="4">
                  <c:v>12.3</c:v>
                </c:pt>
                <c:pt idx="5">
                  <c:v>18.6</c:v>
                </c:pt>
                <c:pt idx="6">
                  <c:v>14.2</c:v>
                </c:pt>
                <c:pt idx="7">
                  <c:v>22.1</c:v>
                </c:pt>
                <c:pt idx="8">
                  <c:v>55.8</c:v>
                </c:pt>
                <c:pt idx="9">
                  <c:v>88.4</c:v>
                </c:pt>
                <c:pt idx="10">
                  <c:v>72.5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(₹B)</c:v>
                </c:pt>
              </c:strCache>
            </c:strRef>
          </c:tx>
          <c:spPr>
            <a:solidFill>
              <a:srgbClr val="0B6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10-Sep-2020</c:v>
                  </c:pt>
                  <c:pt idx="1">
                    <c:v>15-Jul-2020</c:v>
                  </c:pt>
                  <c:pt idx="2">
                    <c:v>24-Jul-2020</c:v>
                  </c:pt>
                  <c:pt idx="3">
                    <c:v>01-Jul-2022</c:v>
                  </c:pt>
                  <c:pt idx="4">
                    <c:v>24-Jun-2021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147.34</c:v>
                </c:pt>
                <c:pt idx="1">
                  <c:v>123.61</c:v>
                </c:pt>
                <c:pt idx="2">
                  <c:v>118.47</c:v>
                </c:pt>
                <c:pt idx="3">
                  <c:v>92.12</c:v>
                </c:pt>
                <c:pt idx="4">
                  <c:v>91.8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(₹M)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29-Dec-1994</c:v>
                  </c:pt>
                  <c:pt idx="1">
                    <c:v>28-Nov-1994</c:v>
                  </c:pt>
                  <c:pt idx="2">
                    <c:v>27-Dec-1994 (A)</c:v>
                  </c:pt>
                  <c:pt idx="3">
                    <c:v>27-Dec-1994 (B)</c:v>
                  </c:pt>
                  <c:pt idx="4">
                    <c:v>28-Dec-1994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1.07</c:v>
                </c:pt>
                <c:pt idx="1">
                  <c:v>2.29</c:v>
                </c:pt>
                <c:pt idx="2">
                  <c:v>2.52</c:v>
                </c:pt>
                <c:pt idx="3">
                  <c:v>2.52</c:v>
                </c:pt>
                <c:pt idx="4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A3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18-May-2009</c:v>
                  </c:pt>
                  <c:pt idx="1">
                    <c:v>16-Jul-1996</c:v>
                  </c:pt>
                  <c:pt idx="2">
                    <c:v>25-Mar-2020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21.37</c:v>
                </c:pt>
                <c:pt idx="1">
                  <c:v>20.77</c:v>
                </c:pt>
                <c:pt idx="2">
                  <c:v>14.72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A3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C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26-Nov-2009</c:v>
                  </c:pt>
                  <c:pt idx="1">
                    <c:v>16-Jul-1996</c:v>
                  </c:pt>
                  <c:pt idx="2">
                    <c:v>25-Mar-2020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-49.76</c:v>
                </c:pt>
                <c:pt idx="1">
                  <c:v>-50.28</c:v>
                </c:pt>
                <c:pt idx="2">
                  <c:v>-51.53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C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BRIEFING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Reliance Industries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Years of Market Data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– 2025  |  NSE Listed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7772400" cy="36576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44168" y="3310128"/>
            <a:ext cx="54864" cy="548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93008" y="3310128"/>
            <a:ext cx="54864" cy="548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Market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41848" y="3310128"/>
            <a:ext cx="54864" cy="548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Trends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90688" y="3310128"/>
            <a:ext cx="54864" cy="548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Data Analyst  |  Reliance Industries 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· NSE · 1994–2025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9144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7,850+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Trading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30 years of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97280"/>
            <a:ext cx="2011680" cy="9144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₹6.83B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42032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Turnover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all sessions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972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97280"/>
            <a:ext cx="2011680" cy="9144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₹147.3B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18304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Single-Day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10-Sep-2020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0972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97280"/>
            <a:ext cx="2011680" cy="9144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₹1.07M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94576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Single-Day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94576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29-Dec-1994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859536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9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Columns: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·   Open   ·   High   ·   Low   ·   Close   ·   Volume   ·   Turnover   ·   Daily_Return_%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TURNOVER TREND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Trading Volume in ₹ Billions · 1994–2025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8595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Peak single-day turnover: ₹147.3B on 10-Sep-2020 (post-RIL rights issue &amp; Jio fundraise)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HIGH TURNOVER DAYS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single-day trading activity in 30 years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9728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97280"/>
            <a:ext cx="73152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3872" y="1161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July–Sept 2020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33872" y="144475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top 5 days cluster here — Jio Platforms fundraising &amp; rights issue attracted massive institutional inflows.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3317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331720"/>
            <a:ext cx="73152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23957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₹147.3B Peak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33872" y="26791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10-Sep-2020 remains the single highest turnover day in Reliance's 30-year NSE history.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356616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3566160"/>
            <a:ext cx="73152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3872" y="36301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33872" y="391363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 raised ~₹1.5 lakh crore from global investors (FB, Google, KKR etc.) in 2020, driving record volumes.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LOW TURNOVER DAYS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single-day trading activity — early market era 1994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51560"/>
            <a:ext cx="3200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51560"/>
            <a:ext cx="3200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 Low?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6002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days fall in late 1994 — Reliance had only recently listed on NSE.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2148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capital markets were in early development; retail participation was minimal.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0644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1994 holiday week saw thin volumes market-wide.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turnover: just ₹1.07M — compared to ₹147B in 2020, that's a 137,700× growth.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06440" y="3794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Reliance's extraordinary market depth evolution over 30 years.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RETURNS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single-day return events across 30 years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TOP 3 BEST RETURN DAYS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389888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TOP 3 WORST RETURN DAYS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846320" y="1389888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Return: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+21.37%  (18-May-2009)     </a:t>
            </a:r>
            <a:pPr algn="ctr" indent="0" marL="0">
              <a:buNone/>
            </a:pPr>
            <a:r>
              <a:rPr lang="en-US" sz="1300" dirty="0">
                <a:solidFill>
                  <a:srgbClr val="0B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  </a:t>
            </a:r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Return: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-51.53%  (26-Nov-2009)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Extreme losses in 2009 were linked to global financial crisis aftermath; 2020 losses tied to COVID-19 crash.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MARKET EVENTS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driving outlier performance in Reliance's 30-year history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54864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78608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417320"/>
            <a:ext cx="0" cy="117043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14400"/>
            <a:ext cx="1234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3268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338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Era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58568" y="257860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0864" y="2743200"/>
            <a:ext cx="0" cy="9144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3703320"/>
            <a:ext cx="12344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37216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1996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38528" y="39227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-50.3%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84248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48456" y="257860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417320"/>
            <a:ext cx="0" cy="1170432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8416" y="914400"/>
            <a:ext cx="12344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93268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416" y="11338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+21.4%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74136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38344" y="257860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743200"/>
            <a:ext cx="0" cy="9144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4" y="3703320"/>
            <a:ext cx="12344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37216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8304" y="39227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-51.5%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64024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28232" y="2578608"/>
            <a:ext cx="164592" cy="164592"/>
          </a:xfrm>
          <a:prstGeom prst="ellipse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1417320"/>
            <a:ext cx="0" cy="1170432"/>
          </a:xfrm>
          <a:prstGeom prst="line">
            <a:avLst/>
          </a:prstGeom>
          <a:noFill/>
          <a:ln w="19050">
            <a:solidFill>
              <a:srgbClr val="0B6E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914400"/>
            <a:ext cx="1234440" cy="45720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93268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08192" y="11338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₹147B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Volume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53912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18120" y="2578608"/>
            <a:ext cx="164592" cy="16459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0416" y="2743200"/>
            <a:ext cx="0" cy="91440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3703320"/>
            <a:ext cx="12344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37216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0" y="39227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₹92B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4380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events are influenced by: global macro crises · RIL strategic announcements · sector shifts · FII flows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— Key metrics from 30 years of Reliance NSE data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Daily Return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~7,850 trading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~7,850 trading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₹6.83 Billion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₹147.34 Billion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₹1.07 Million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-51.53%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Single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18-May-2009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Single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29-Dec-1994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26-Nov-2009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NSE historical records. Values represent adjusted market data across 31 years of Reliance Industries listings.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stakeholders — analyst interpretation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82296" cy="1737360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Liquidity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₹1M daily turnover in 1994 to ₹147B in 2020 — a 137,700× increase. Reliance has become one of the most liquid blue-chips on NSE.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82296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430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73752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Dual 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saw the worst single-day return (-51.5%), yet 2020 also produced the highest turnover day. Crisis and opportunity coexist.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82296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0632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Post-GFC Recovery Signal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8130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daily return (+21.37%) on 18-May-2009 came post-Global Financial Crisis — a textbook recovery pattern for long-term investors.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82296" cy="1737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0632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73752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Milestones Drive Volume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8130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turnover days in 2020–22 align with Jio fundraising rounds, rights issue and Adani port demerger — corporate actions are key volume drivers.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 · 30 Years of Market Data · NSE (1994–2025)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772400" cy="36576"/>
          </a:xfrm>
          <a:prstGeom prst="rect">
            <a:avLst/>
          </a:prstGeom>
          <a:solidFill>
            <a:srgbClr val="0B6E8C"/>
          </a:solidFill>
          <a:ln w="12700">
            <a:solidFill>
              <a:srgbClr val="0B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7,850+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 Analysed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2468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₹147.3B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9748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Single-Day Turnover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+21.4%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Single-Day Return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12280" y="2468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-51.5%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Single-Day Return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Data Analyst  |  Source: NSE Historical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Reliance Industries: 30 Years of Market Data (1994–2025)</dc:title>
  <dc:subject>PptxGenJS Presentation</dc:subject>
  <dc:creator>PptxGenJS</dc:creator>
  <cp:lastModifiedBy>PptxGenJS</cp:lastModifiedBy>
  <cp:revision>1</cp:revision>
  <dcterms:created xsi:type="dcterms:W3CDTF">2026-06-03T09:25:01Z</dcterms:created>
  <dcterms:modified xsi:type="dcterms:W3CDTF">2026-06-03T09:25:01Z</dcterms:modified>
</cp:coreProperties>
</file>